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58" r:id="rId3"/>
    <p:sldId id="257" r:id="rId4"/>
    <p:sldId id="259" r:id="rId5"/>
    <p:sldId id="260" r:id="rId6"/>
    <p:sldId id="268" r:id="rId7"/>
    <p:sldId id="267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95195A-972D-4817-B698-BA0CD09FBE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423DBB-262C-41EE-ABF8-F77F9EF93088}">
      <dgm:prSet/>
      <dgm:spPr/>
      <dgm:t>
        <a:bodyPr/>
        <a:lstStyle/>
        <a:p>
          <a:r>
            <a:rPr lang="en-IN" b="1" i="0" dirty="0"/>
            <a:t>HTTP Input — </a:t>
          </a:r>
          <a:r>
            <a:rPr lang="en-IN" b="1" dirty="0"/>
            <a:t>/hl7/ingest</a:t>
          </a:r>
        </a:p>
        <a:p>
          <a:endParaRPr lang="en-US" dirty="0"/>
        </a:p>
        <a:p>
          <a:r>
            <a:rPr lang="en-IN" dirty="0"/>
            <a:t>ACE listens on port 7080 and receives raw HL7 bytes via the BLOB domain.</a:t>
          </a:r>
          <a:r>
            <a:rPr lang="en-IN" b="1" i="0" dirty="0"/>
            <a:t>2</a:t>
          </a:r>
          <a:endParaRPr lang="en-US" dirty="0"/>
        </a:p>
      </dgm:t>
    </dgm:pt>
    <dgm:pt modelId="{D02209EE-2C63-4432-B426-D9D651A79378}" type="parTrans" cxnId="{3B6AA122-7EC2-4CC2-962A-F302EE1277B6}">
      <dgm:prSet/>
      <dgm:spPr/>
      <dgm:t>
        <a:bodyPr/>
        <a:lstStyle/>
        <a:p>
          <a:endParaRPr lang="en-US"/>
        </a:p>
      </dgm:t>
    </dgm:pt>
    <dgm:pt modelId="{98576B48-AA9B-4A11-B8F8-C8604E4B0C69}" type="sibTrans" cxnId="{3B6AA122-7EC2-4CC2-962A-F302EE1277B6}">
      <dgm:prSet/>
      <dgm:spPr/>
      <dgm:t>
        <a:bodyPr/>
        <a:lstStyle/>
        <a:p>
          <a:endParaRPr lang="en-US"/>
        </a:p>
      </dgm:t>
    </dgm:pt>
    <dgm:pt modelId="{2B07AB02-58C1-4E18-9966-588BB5E94973}">
      <dgm:prSet/>
      <dgm:spPr/>
      <dgm:t>
        <a:bodyPr/>
        <a:lstStyle/>
        <a:p>
          <a:r>
            <a:rPr lang="en-IN" b="1" i="0" dirty="0"/>
            <a:t>ESQL HL7Parser </a:t>
          </a:r>
        </a:p>
        <a:p>
          <a:endParaRPr lang="en-US" dirty="0"/>
        </a:p>
        <a:p>
          <a:r>
            <a:rPr lang="en-IN" dirty="0"/>
            <a:t>Splits the pipe-delimited HL7 text into a structured LocalEnvironment.HL7 element tree using pure ESQL</a:t>
          </a:r>
          <a:r>
            <a:rPr lang="en-IN" b="1" i="0" dirty="0"/>
            <a:t>3</a:t>
          </a:r>
          <a:endParaRPr lang="en-US" dirty="0"/>
        </a:p>
      </dgm:t>
    </dgm:pt>
    <dgm:pt modelId="{085376AF-D02A-4AE9-A9DF-C9A60682363A}" type="parTrans" cxnId="{20AF0447-EF02-4B76-ABB0-E9D830C15E45}">
      <dgm:prSet/>
      <dgm:spPr/>
      <dgm:t>
        <a:bodyPr/>
        <a:lstStyle/>
        <a:p>
          <a:endParaRPr lang="en-US"/>
        </a:p>
      </dgm:t>
    </dgm:pt>
    <dgm:pt modelId="{27E152C5-C740-4C2E-8CFB-24105E3C3A91}" type="sibTrans" cxnId="{20AF0447-EF02-4B76-ABB0-E9D830C15E45}">
      <dgm:prSet/>
      <dgm:spPr/>
      <dgm:t>
        <a:bodyPr/>
        <a:lstStyle/>
        <a:p>
          <a:endParaRPr lang="en-US"/>
        </a:p>
      </dgm:t>
    </dgm:pt>
    <dgm:pt modelId="{C9823489-3841-4D81-8644-459065292712}">
      <dgm:prSet/>
      <dgm:spPr/>
      <dgm:t>
        <a:bodyPr/>
        <a:lstStyle/>
        <a:p>
          <a:r>
            <a:rPr lang="en-IN" b="1" i="0" dirty="0"/>
            <a:t>Java HL7SegmentParser</a:t>
          </a:r>
        </a:p>
        <a:p>
          <a:endParaRPr lang="en-US" dirty="0"/>
        </a:p>
        <a:p>
          <a:r>
            <a:rPr lang="en-IN" dirty="0"/>
            <a:t>A Java Compute Node that converts the raw segments into a typed </a:t>
          </a:r>
          <a:r>
            <a:rPr lang="en-IN" dirty="0" err="1"/>
            <a:t>MbElement</a:t>
          </a:r>
          <a:r>
            <a:rPr lang="en-IN" dirty="0"/>
            <a:t> tree and produces a compact JSON summary for the AI agents.</a:t>
          </a:r>
          <a:r>
            <a:rPr lang="en-IN" b="1" i="0" dirty="0"/>
            <a:t>4</a:t>
          </a:r>
          <a:endParaRPr lang="en-US" dirty="0"/>
        </a:p>
      </dgm:t>
    </dgm:pt>
    <dgm:pt modelId="{9F3C0014-C87F-4D3E-86AE-4FE7EBDD6D63}" type="parTrans" cxnId="{1B427EC0-E2D9-471F-B1C6-3FBE2DB5B2DB}">
      <dgm:prSet/>
      <dgm:spPr/>
      <dgm:t>
        <a:bodyPr/>
        <a:lstStyle/>
        <a:p>
          <a:endParaRPr lang="en-US"/>
        </a:p>
      </dgm:t>
    </dgm:pt>
    <dgm:pt modelId="{40C09E8A-205A-4D62-B16F-FFA5EECD0DBC}" type="sibTrans" cxnId="{1B427EC0-E2D9-471F-B1C6-3FBE2DB5B2DB}">
      <dgm:prSet/>
      <dgm:spPr/>
      <dgm:t>
        <a:bodyPr/>
        <a:lstStyle/>
        <a:p>
          <a:endParaRPr lang="en-US"/>
        </a:p>
      </dgm:t>
    </dgm:pt>
    <dgm:pt modelId="{962E6689-B21E-4A91-8FA5-57B0B5384D83}">
      <dgm:prSet/>
      <dgm:spPr/>
      <dgm:t>
        <a:bodyPr/>
        <a:lstStyle/>
        <a:p>
          <a:r>
            <a:rPr lang="en-IN" b="1" i="0" dirty="0"/>
            <a:t>ESQL HL7Validator</a:t>
          </a:r>
        </a:p>
        <a:p>
          <a:endParaRPr lang="en-US" dirty="0"/>
        </a:p>
        <a:p>
          <a:r>
            <a:rPr lang="en-IN" dirty="0"/>
            <a:t>Checks that all required MSH and PID fields are present; routes the message to an error queue if validation fails.</a:t>
          </a:r>
          <a:r>
            <a:rPr lang="en-IN" b="1" i="0" dirty="0"/>
            <a:t>5</a:t>
          </a:r>
          <a:endParaRPr lang="en-US" dirty="0"/>
        </a:p>
      </dgm:t>
    </dgm:pt>
    <dgm:pt modelId="{9240811A-B57B-4E06-B258-E70A627502FD}" type="parTrans" cxnId="{F2BC4CB7-FBF8-428B-99FE-A63F1BFE2B2C}">
      <dgm:prSet/>
      <dgm:spPr/>
      <dgm:t>
        <a:bodyPr/>
        <a:lstStyle/>
        <a:p>
          <a:endParaRPr lang="en-US"/>
        </a:p>
      </dgm:t>
    </dgm:pt>
    <dgm:pt modelId="{D616E31C-CC8B-4D35-8943-AD0E565D1718}" type="sibTrans" cxnId="{F2BC4CB7-FBF8-428B-99FE-A63F1BFE2B2C}">
      <dgm:prSet/>
      <dgm:spPr/>
      <dgm:t>
        <a:bodyPr/>
        <a:lstStyle/>
        <a:p>
          <a:endParaRPr lang="en-US"/>
        </a:p>
      </dgm:t>
    </dgm:pt>
    <dgm:pt modelId="{1A748624-6D38-4C50-BA72-E8FBFC558467}">
      <dgm:prSet/>
      <dgm:spPr/>
      <dgm:t>
        <a:bodyPr/>
        <a:lstStyle/>
        <a:p>
          <a:r>
            <a:rPr lang="en-IN" b="1" dirty="0"/>
            <a:t>HTTP POST → AI Agent</a:t>
          </a:r>
        </a:p>
        <a:p>
          <a:endParaRPr lang="en-US" dirty="0"/>
        </a:p>
        <a:p>
          <a:r>
            <a:rPr lang="en-IN" dirty="0"/>
            <a:t>Forwards the JSON summary from ACE to the Node.js AI agent sidecar at :4000/process via an HTTP Request node.</a:t>
          </a:r>
          <a:r>
            <a:rPr lang="en-IN" b="1" i="0" dirty="0"/>
            <a:t>6</a:t>
          </a:r>
          <a:endParaRPr lang="en-US" dirty="0"/>
        </a:p>
      </dgm:t>
    </dgm:pt>
    <dgm:pt modelId="{0AA4AFF5-F2D0-41C8-8188-0F0EB43A5AB0}" type="parTrans" cxnId="{2574CA9C-2A48-4806-A758-49E5DE45778C}">
      <dgm:prSet/>
      <dgm:spPr/>
      <dgm:t>
        <a:bodyPr/>
        <a:lstStyle/>
        <a:p>
          <a:endParaRPr lang="en-US"/>
        </a:p>
      </dgm:t>
    </dgm:pt>
    <dgm:pt modelId="{76E04BFF-67FC-478C-9150-9136A9EF13CE}" type="sibTrans" cxnId="{2574CA9C-2A48-4806-A758-49E5DE45778C}">
      <dgm:prSet/>
      <dgm:spPr/>
      <dgm:t>
        <a:bodyPr/>
        <a:lstStyle/>
        <a:p>
          <a:endParaRPr lang="en-US"/>
        </a:p>
      </dgm:t>
    </dgm:pt>
    <dgm:pt modelId="{6CE90213-E502-4A57-8B72-2A56F7C0A5E4}">
      <dgm:prSet/>
      <dgm:spPr/>
      <dgm:t>
        <a:bodyPr/>
        <a:lstStyle/>
        <a:p>
          <a:r>
            <a:rPr lang="en-IN" b="1" dirty="0"/>
            <a:t>MQ Route + ACK Builder</a:t>
          </a:r>
        </a:p>
        <a:p>
          <a:endParaRPr lang="en-US" dirty="0"/>
        </a:p>
        <a:p>
          <a:r>
            <a:rPr lang="en-IN" dirty="0"/>
            <a:t>Puts the message onto the correct MQ queue (ADT, ORU, or ORM) and sends a standards-compliant HL7 AA or AE acknowledgement back to the sender.</a:t>
          </a:r>
          <a:endParaRPr lang="en-US" dirty="0"/>
        </a:p>
      </dgm:t>
    </dgm:pt>
    <dgm:pt modelId="{D5C38350-1350-435D-9BD4-92DF3565DE70}" type="parTrans" cxnId="{11988DDE-ACF3-4D2A-9352-981DE135F08B}">
      <dgm:prSet/>
      <dgm:spPr/>
      <dgm:t>
        <a:bodyPr/>
        <a:lstStyle/>
        <a:p>
          <a:endParaRPr lang="en-US"/>
        </a:p>
      </dgm:t>
    </dgm:pt>
    <dgm:pt modelId="{06BC2B8B-F703-4727-9429-A34D096B6B31}" type="sibTrans" cxnId="{11988DDE-ACF3-4D2A-9352-981DE135F08B}">
      <dgm:prSet/>
      <dgm:spPr/>
      <dgm:t>
        <a:bodyPr/>
        <a:lstStyle/>
        <a:p>
          <a:endParaRPr lang="en-US"/>
        </a:p>
      </dgm:t>
    </dgm:pt>
    <dgm:pt modelId="{69A05427-AFEA-417C-BBBA-95A3ADC46DE0}" type="pres">
      <dgm:prSet presAssocID="{C995195A-972D-4817-B698-BA0CD09FBE11}" presName="diagram" presStyleCnt="0">
        <dgm:presLayoutVars>
          <dgm:dir/>
          <dgm:resizeHandles val="exact"/>
        </dgm:presLayoutVars>
      </dgm:prSet>
      <dgm:spPr/>
    </dgm:pt>
    <dgm:pt modelId="{F0D54A46-3DAC-4C03-B58E-BE88CFB65FB4}" type="pres">
      <dgm:prSet presAssocID="{CB423DBB-262C-41EE-ABF8-F77F9EF93088}" presName="node" presStyleLbl="node1" presStyleIdx="0" presStyleCnt="6">
        <dgm:presLayoutVars>
          <dgm:bulletEnabled val="1"/>
        </dgm:presLayoutVars>
      </dgm:prSet>
      <dgm:spPr/>
    </dgm:pt>
    <dgm:pt modelId="{72312212-0302-4340-AC1F-7FDA6A850A1E}" type="pres">
      <dgm:prSet presAssocID="{98576B48-AA9B-4A11-B8F8-C8604E4B0C69}" presName="sibTrans" presStyleCnt="0"/>
      <dgm:spPr/>
    </dgm:pt>
    <dgm:pt modelId="{F89CA2F3-DF09-455B-AFEF-5212BA9F5102}" type="pres">
      <dgm:prSet presAssocID="{2B07AB02-58C1-4E18-9966-588BB5E94973}" presName="node" presStyleLbl="node1" presStyleIdx="1" presStyleCnt="6">
        <dgm:presLayoutVars>
          <dgm:bulletEnabled val="1"/>
        </dgm:presLayoutVars>
      </dgm:prSet>
      <dgm:spPr/>
    </dgm:pt>
    <dgm:pt modelId="{60004BE8-308D-4CD3-98B8-F3FBA2A6014C}" type="pres">
      <dgm:prSet presAssocID="{27E152C5-C740-4C2E-8CFB-24105E3C3A91}" presName="sibTrans" presStyleCnt="0"/>
      <dgm:spPr/>
    </dgm:pt>
    <dgm:pt modelId="{D4BC2690-6038-4584-AAC6-51B8B0338DC5}" type="pres">
      <dgm:prSet presAssocID="{C9823489-3841-4D81-8644-459065292712}" presName="node" presStyleLbl="node1" presStyleIdx="2" presStyleCnt="6">
        <dgm:presLayoutVars>
          <dgm:bulletEnabled val="1"/>
        </dgm:presLayoutVars>
      </dgm:prSet>
      <dgm:spPr/>
    </dgm:pt>
    <dgm:pt modelId="{F3783387-21E4-4D65-9AF2-DEC5931A87EC}" type="pres">
      <dgm:prSet presAssocID="{40C09E8A-205A-4D62-B16F-FFA5EECD0DBC}" presName="sibTrans" presStyleCnt="0"/>
      <dgm:spPr/>
    </dgm:pt>
    <dgm:pt modelId="{DBE01364-A845-4431-A621-FAA6A72D39C9}" type="pres">
      <dgm:prSet presAssocID="{962E6689-B21E-4A91-8FA5-57B0B5384D83}" presName="node" presStyleLbl="node1" presStyleIdx="3" presStyleCnt="6">
        <dgm:presLayoutVars>
          <dgm:bulletEnabled val="1"/>
        </dgm:presLayoutVars>
      </dgm:prSet>
      <dgm:spPr/>
    </dgm:pt>
    <dgm:pt modelId="{5C53A160-A3F4-4707-909C-AA23D8C2DBC9}" type="pres">
      <dgm:prSet presAssocID="{D616E31C-CC8B-4D35-8943-AD0E565D1718}" presName="sibTrans" presStyleCnt="0"/>
      <dgm:spPr/>
    </dgm:pt>
    <dgm:pt modelId="{01515980-EDD7-4AE4-975F-DB931BFFE98A}" type="pres">
      <dgm:prSet presAssocID="{1A748624-6D38-4C50-BA72-E8FBFC558467}" presName="node" presStyleLbl="node1" presStyleIdx="4" presStyleCnt="6">
        <dgm:presLayoutVars>
          <dgm:bulletEnabled val="1"/>
        </dgm:presLayoutVars>
      </dgm:prSet>
      <dgm:spPr/>
    </dgm:pt>
    <dgm:pt modelId="{024FE7FB-6E42-45C3-BA3C-E63B77DEBB38}" type="pres">
      <dgm:prSet presAssocID="{76E04BFF-67FC-478C-9150-9136A9EF13CE}" presName="sibTrans" presStyleCnt="0"/>
      <dgm:spPr/>
    </dgm:pt>
    <dgm:pt modelId="{7572CB98-63BD-475C-AF9A-64620624B758}" type="pres">
      <dgm:prSet presAssocID="{6CE90213-E502-4A57-8B72-2A56F7C0A5E4}" presName="node" presStyleLbl="node1" presStyleIdx="5" presStyleCnt="6">
        <dgm:presLayoutVars>
          <dgm:bulletEnabled val="1"/>
        </dgm:presLayoutVars>
      </dgm:prSet>
      <dgm:spPr/>
    </dgm:pt>
  </dgm:ptLst>
  <dgm:cxnLst>
    <dgm:cxn modelId="{8997D310-D8BF-46D1-B30F-745616D68A14}" type="presOf" srcId="{962E6689-B21E-4A91-8FA5-57B0B5384D83}" destId="{DBE01364-A845-4431-A621-FAA6A72D39C9}" srcOrd="0" destOrd="0" presId="urn:microsoft.com/office/officeart/2005/8/layout/default"/>
    <dgm:cxn modelId="{3B6AA122-7EC2-4CC2-962A-F302EE1277B6}" srcId="{C995195A-972D-4817-B698-BA0CD09FBE11}" destId="{CB423DBB-262C-41EE-ABF8-F77F9EF93088}" srcOrd="0" destOrd="0" parTransId="{D02209EE-2C63-4432-B426-D9D651A79378}" sibTransId="{98576B48-AA9B-4A11-B8F8-C8604E4B0C69}"/>
    <dgm:cxn modelId="{DAE46628-329D-4555-9F4C-09EA25CC51A2}" type="presOf" srcId="{6CE90213-E502-4A57-8B72-2A56F7C0A5E4}" destId="{7572CB98-63BD-475C-AF9A-64620624B758}" srcOrd="0" destOrd="0" presId="urn:microsoft.com/office/officeart/2005/8/layout/default"/>
    <dgm:cxn modelId="{8739113B-8246-407A-92DB-E06046F2D81B}" type="presOf" srcId="{2B07AB02-58C1-4E18-9966-588BB5E94973}" destId="{F89CA2F3-DF09-455B-AFEF-5212BA9F5102}" srcOrd="0" destOrd="0" presId="urn:microsoft.com/office/officeart/2005/8/layout/default"/>
    <dgm:cxn modelId="{20AF0447-EF02-4B76-ABB0-E9D830C15E45}" srcId="{C995195A-972D-4817-B698-BA0CD09FBE11}" destId="{2B07AB02-58C1-4E18-9966-588BB5E94973}" srcOrd="1" destOrd="0" parTransId="{085376AF-D02A-4AE9-A9DF-C9A60682363A}" sibTransId="{27E152C5-C740-4C2E-8CFB-24105E3C3A91}"/>
    <dgm:cxn modelId="{BA75EF7B-DF9A-47BD-979F-E2312F24426A}" type="presOf" srcId="{CB423DBB-262C-41EE-ABF8-F77F9EF93088}" destId="{F0D54A46-3DAC-4C03-B58E-BE88CFB65FB4}" srcOrd="0" destOrd="0" presId="urn:microsoft.com/office/officeart/2005/8/layout/default"/>
    <dgm:cxn modelId="{3C84F88F-4C8A-415B-827A-D182EE3F1B0C}" type="presOf" srcId="{C9823489-3841-4D81-8644-459065292712}" destId="{D4BC2690-6038-4584-AAC6-51B8B0338DC5}" srcOrd="0" destOrd="0" presId="urn:microsoft.com/office/officeart/2005/8/layout/default"/>
    <dgm:cxn modelId="{2574CA9C-2A48-4806-A758-49E5DE45778C}" srcId="{C995195A-972D-4817-B698-BA0CD09FBE11}" destId="{1A748624-6D38-4C50-BA72-E8FBFC558467}" srcOrd="4" destOrd="0" parTransId="{0AA4AFF5-F2D0-41C8-8188-0F0EB43A5AB0}" sibTransId="{76E04BFF-67FC-478C-9150-9136A9EF13CE}"/>
    <dgm:cxn modelId="{51C934AA-5383-42A9-9BE3-1A70E665B6A5}" type="presOf" srcId="{1A748624-6D38-4C50-BA72-E8FBFC558467}" destId="{01515980-EDD7-4AE4-975F-DB931BFFE98A}" srcOrd="0" destOrd="0" presId="urn:microsoft.com/office/officeart/2005/8/layout/default"/>
    <dgm:cxn modelId="{F2BC4CB7-FBF8-428B-99FE-A63F1BFE2B2C}" srcId="{C995195A-972D-4817-B698-BA0CD09FBE11}" destId="{962E6689-B21E-4A91-8FA5-57B0B5384D83}" srcOrd="3" destOrd="0" parTransId="{9240811A-B57B-4E06-B258-E70A627502FD}" sibTransId="{D616E31C-CC8B-4D35-8943-AD0E565D1718}"/>
    <dgm:cxn modelId="{1B427EC0-E2D9-471F-B1C6-3FBE2DB5B2DB}" srcId="{C995195A-972D-4817-B698-BA0CD09FBE11}" destId="{C9823489-3841-4D81-8644-459065292712}" srcOrd="2" destOrd="0" parTransId="{9F3C0014-C87F-4D3E-86AE-4FE7EBDD6D63}" sibTransId="{40C09E8A-205A-4D62-B16F-FFA5EECD0DBC}"/>
    <dgm:cxn modelId="{11988DDE-ACF3-4D2A-9352-981DE135F08B}" srcId="{C995195A-972D-4817-B698-BA0CD09FBE11}" destId="{6CE90213-E502-4A57-8B72-2A56F7C0A5E4}" srcOrd="5" destOrd="0" parTransId="{D5C38350-1350-435D-9BD4-92DF3565DE70}" sibTransId="{06BC2B8B-F703-4727-9429-A34D096B6B31}"/>
    <dgm:cxn modelId="{1E0425F8-0AF2-421A-883C-730835D2D13C}" type="presOf" srcId="{C995195A-972D-4817-B698-BA0CD09FBE11}" destId="{69A05427-AFEA-417C-BBBA-95A3ADC46DE0}" srcOrd="0" destOrd="0" presId="urn:microsoft.com/office/officeart/2005/8/layout/default"/>
    <dgm:cxn modelId="{D10E5D6F-2CFD-408B-B954-D8C1EFB5067A}" type="presParOf" srcId="{69A05427-AFEA-417C-BBBA-95A3ADC46DE0}" destId="{F0D54A46-3DAC-4C03-B58E-BE88CFB65FB4}" srcOrd="0" destOrd="0" presId="urn:microsoft.com/office/officeart/2005/8/layout/default"/>
    <dgm:cxn modelId="{FBD169C9-11C5-4927-8B32-C29EBF6D9AB8}" type="presParOf" srcId="{69A05427-AFEA-417C-BBBA-95A3ADC46DE0}" destId="{72312212-0302-4340-AC1F-7FDA6A850A1E}" srcOrd="1" destOrd="0" presId="urn:microsoft.com/office/officeart/2005/8/layout/default"/>
    <dgm:cxn modelId="{96EE6FF1-4F0B-4DD8-87B9-9632CC438EBA}" type="presParOf" srcId="{69A05427-AFEA-417C-BBBA-95A3ADC46DE0}" destId="{F89CA2F3-DF09-455B-AFEF-5212BA9F5102}" srcOrd="2" destOrd="0" presId="urn:microsoft.com/office/officeart/2005/8/layout/default"/>
    <dgm:cxn modelId="{86EDCAB6-0C3D-40A7-ACF5-458ECAB17776}" type="presParOf" srcId="{69A05427-AFEA-417C-BBBA-95A3ADC46DE0}" destId="{60004BE8-308D-4CD3-98B8-F3FBA2A6014C}" srcOrd="3" destOrd="0" presId="urn:microsoft.com/office/officeart/2005/8/layout/default"/>
    <dgm:cxn modelId="{FF100368-1438-4F97-8E63-C1E6C7BA9020}" type="presParOf" srcId="{69A05427-AFEA-417C-BBBA-95A3ADC46DE0}" destId="{D4BC2690-6038-4584-AAC6-51B8B0338DC5}" srcOrd="4" destOrd="0" presId="urn:microsoft.com/office/officeart/2005/8/layout/default"/>
    <dgm:cxn modelId="{CF2B1ACD-0FD8-4A53-86E5-A2831E667EF1}" type="presParOf" srcId="{69A05427-AFEA-417C-BBBA-95A3ADC46DE0}" destId="{F3783387-21E4-4D65-9AF2-DEC5931A87EC}" srcOrd="5" destOrd="0" presId="urn:microsoft.com/office/officeart/2005/8/layout/default"/>
    <dgm:cxn modelId="{E44317E3-702C-4D8D-9941-E338A418B674}" type="presParOf" srcId="{69A05427-AFEA-417C-BBBA-95A3ADC46DE0}" destId="{DBE01364-A845-4431-A621-FAA6A72D39C9}" srcOrd="6" destOrd="0" presId="urn:microsoft.com/office/officeart/2005/8/layout/default"/>
    <dgm:cxn modelId="{2B4698ED-D6BD-41D3-806F-D40376AC36E6}" type="presParOf" srcId="{69A05427-AFEA-417C-BBBA-95A3ADC46DE0}" destId="{5C53A160-A3F4-4707-909C-AA23D8C2DBC9}" srcOrd="7" destOrd="0" presId="urn:microsoft.com/office/officeart/2005/8/layout/default"/>
    <dgm:cxn modelId="{57EE6CF5-A920-452B-B559-3AA5377DAF21}" type="presParOf" srcId="{69A05427-AFEA-417C-BBBA-95A3ADC46DE0}" destId="{01515980-EDD7-4AE4-975F-DB931BFFE98A}" srcOrd="8" destOrd="0" presId="urn:microsoft.com/office/officeart/2005/8/layout/default"/>
    <dgm:cxn modelId="{C3DDC8E0-9AE0-4FE4-82D6-9C98E1DF98B5}" type="presParOf" srcId="{69A05427-AFEA-417C-BBBA-95A3ADC46DE0}" destId="{024FE7FB-6E42-45C3-BA3C-E63B77DEBB38}" srcOrd="9" destOrd="0" presId="urn:microsoft.com/office/officeart/2005/8/layout/default"/>
    <dgm:cxn modelId="{890DBCB5-56EE-4729-86A5-9999D0D2E2A4}" type="presParOf" srcId="{69A05427-AFEA-417C-BBBA-95A3ADC46DE0}" destId="{7572CB98-63BD-475C-AF9A-64620624B75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9F88C2-2F0E-4055-9339-A7D6E43030F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1DFD978-91A3-479F-A9EC-FD64E73CDD09}">
      <dgm:prSet custT="1"/>
      <dgm:spPr/>
      <dgm:t>
        <a:bodyPr/>
        <a:lstStyle/>
        <a:p>
          <a:r>
            <a:rPr lang="en-IN" sz="2000" b="1" i="0" dirty="0"/>
            <a:t>For Integration Engineers</a:t>
          </a:r>
        </a:p>
        <a:p>
          <a:r>
            <a:rPr lang="en-IN" sz="1600" b="0" i="0" dirty="0"/>
            <a:t>No HL7 library complexity inside ACE — pure ESQL keeps the BAR lightweight</a:t>
          </a:r>
          <a:endParaRPr lang="en-US" sz="1600" dirty="0"/>
        </a:p>
      </dgm:t>
    </dgm:pt>
    <dgm:pt modelId="{E1167D67-058E-4B11-A044-2CB85AD0DEC3}" type="parTrans" cxnId="{4877AB5C-68BD-45C7-AC91-F11F96740823}">
      <dgm:prSet/>
      <dgm:spPr/>
      <dgm:t>
        <a:bodyPr/>
        <a:lstStyle/>
        <a:p>
          <a:endParaRPr lang="en-US"/>
        </a:p>
      </dgm:t>
    </dgm:pt>
    <dgm:pt modelId="{6DA5B0DD-CB85-4F32-B044-A7C0AD0BEF44}" type="sibTrans" cxnId="{4877AB5C-68BD-45C7-AC91-F11F96740823}">
      <dgm:prSet/>
      <dgm:spPr/>
      <dgm:t>
        <a:bodyPr/>
        <a:lstStyle/>
        <a:p>
          <a:endParaRPr lang="en-US"/>
        </a:p>
      </dgm:t>
    </dgm:pt>
    <dgm:pt modelId="{FFF4CBF5-DB65-4495-9C18-B7028C36457D}">
      <dgm:prSet custT="1"/>
      <dgm:spPr/>
      <dgm:t>
        <a:bodyPr/>
        <a:lstStyle/>
        <a:p>
          <a:r>
            <a:rPr lang="en-IN" sz="2000" b="1" i="0" dirty="0"/>
            <a:t>For AI / Data Engineers</a:t>
          </a:r>
        </a:p>
        <a:p>
          <a:endParaRPr lang="en-US" sz="1100" dirty="0"/>
        </a:p>
        <a:p>
          <a:r>
            <a:rPr lang="en-IN" sz="1600" b="0" i="0" dirty="0"/>
            <a:t>4 independent, fully testable AI agents — Classify · Validate · Enrich · Summarise</a:t>
          </a:r>
          <a:endParaRPr lang="en-US" sz="1600" dirty="0"/>
        </a:p>
      </dgm:t>
    </dgm:pt>
    <dgm:pt modelId="{8CCDF660-FB35-44DE-A5CD-8DBC675D7CCA}" type="parTrans" cxnId="{718FBF47-D5DB-4455-BA2C-D23D19AA5DAC}">
      <dgm:prSet/>
      <dgm:spPr/>
      <dgm:t>
        <a:bodyPr/>
        <a:lstStyle/>
        <a:p>
          <a:endParaRPr lang="en-US"/>
        </a:p>
      </dgm:t>
    </dgm:pt>
    <dgm:pt modelId="{FB27773C-1058-42BD-9C35-417542F24BD7}" type="sibTrans" cxnId="{718FBF47-D5DB-4455-BA2C-D23D19AA5DAC}">
      <dgm:prSet/>
      <dgm:spPr/>
      <dgm:t>
        <a:bodyPr/>
        <a:lstStyle/>
        <a:p>
          <a:endParaRPr lang="en-US"/>
        </a:p>
      </dgm:t>
    </dgm:pt>
    <dgm:pt modelId="{94D30248-F761-4DAB-A6A8-56AC4795E377}">
      <dgm:prSet custT="1"/>
      <dgm:spPr/>
      <dgm:t>
        <a:bodyPr/>
        <a:lstStyle/>
        <a:p>
          <a:r>
            <a:rPr lang="en-IN" sz="2000" b="1" i="0" dirty="0"/>
            <a:t>For Healthcare Teams</a:t>
          </a:r>
        </a:p>
        <a:p>
          <a:endParaRPr lang="en-IN" sz="1100" b="0" i="0" dirty="0"/>
        </a:p>
        <a:p>
          <a:r>
            <a:rPr lang="en-IN" sz="1600" b="0" i="0" dirty="0"/>
            <a:t>Critical lab flags (HH/LL/AA) </a:t>
          </a:r>
          <a:r>
            <a:rPr lang="en-IN" sz="1600" b="1" i="0" dirty="0"/>
            <a:t>escalated instantly</a:t>
          </a:r>
          <a:r>
            <a:rPr lang="en-IN" sz="1600" b="0" i="0" dirty="0"/>
            <a:t> — no manual triage</a:t>
          </a:r>
        </a:p>
        <a:p>
          <a:r>
            <a:rPr lang="en-IN" sz="1600" b="0" i="0" dirty="0"/>
            <a:t>Drug allergy alerts fired </a:t>
          </a:r>
          <a:r>
            <a:rPr lang="en-IN" sz="1600" b="1" i="0" dirty="0"/>
            <a:t>before the order reaches the pharmacy</a:t>
          </a:r>
        </a:p>
        <a:p>
          <a:r>
            <a:rPr lang="en-IN" sz="1600" b="0" i="0" dirty="0"/>
            <a:t>FHIR patient context attached to every message automatically</a:t>
          </a:r>
        </a:p>
        <a:p>
          <a:r>
            <a:rPr lang="en-IN" sz="1600" b="0" i="0" dirty="0"/>
            <a:t>Human-readable clinical narratives generated by Granite LLM</a:t>
          </a:r>
        </a:p>
        <a:p>
          <a:r>
            <a:rPr lang="en-IN" sz="1600" b="1" i="0" dirty="0"/>
            <a:t>Safer, faster clinical decisions</a:t>
          </a:r>
          <a:r>
            <a:rPr lang="en-IN" sz="1600" b="0" i="0" dirty="0"/>
            <a:t> — every time</a:t>
          </a:r>
          <a:endParaRPr lang="en-US" sz="1600" dirty="0"/>
        </a:p>
      </dgm:t>
    </dgm:pt>
    <dgm:pt modelId="{40063AFD-D706-4A24-838B-65445DEC74F1}" type="parTrans" cxnId="{B1901C6A-24F1-4E6E-B719-9AF2A2727408}">
      <dgm:prSet/>
      <dgm:spPr/>
      <dgm:t>
        <a:bodyPr/>
        <a:lstStyle/>
        <a:p>
          <a:endParaRPr lang="en-US"/>
        </a:p>
      </dgm:t>
    </dgm:pt>
    <dgm:pt modelId="{7F01FF11-6E01-4FDC-AAC5-4147C75B3465}" type="sibTrans" cxnId="{B1901C6A-24F1-4E6E-B719-9AF2A2727408}">
      <dgm:prSet/>
      <dgm:spPr/>
      <dgm:t>
        <a:bodyPr/>
        <a:lstStyle/>
        <a:p>
          <a:endParaRPr lang="en-US"/>
        </a:p>
      </dgm:t>
    </dgm:pt>
    <dgm:pt modelId="{F01CE873-EF23-40C0-BB07-9275D016E8F6}" type="pres">
      <dgm:prSet presAssocID="{669F88C2-2F0E-4055-9339-A7D6E43030F8}" presName="linear" presStyleCnt="0">
        <dgm:presLayoutVars>
          <dgm:animLvl val="lvl"/>
          <dgm:resizeHandles val="exact"/>
        </dgm:presLayoutVars>
      </dgm:prSet>
      <dgm:spPr/>
    </dgm:pt>
    <dgm:pt modelId="{50E8CA5A-E7E7-429F-9E90-B765221F14C9}" type="pres">
      <dgm:prSet presAssocID="{91DFD978-91A3-479F-A9EC-FD64E73CDD09}" presName="parentText" presStyleLbl="node1" presStyleIdx="0" presStyleCnt="3" custScaleY="60331" custLinFactY="-1849" custLinFactNeighborX="-530" custLinFactNeighborY="-100000">
        <dgm:presLayoutVars>
          <dgm:chMax val="0"/>
          <dgm:bulletEnabled val="1"/>
        </dgm:presLayoutVars>
      </dgm:prSet>
      <dgm:spPr/>
    </dgm:pt>
    <dgm:pt modelId="{BB27B84D-DF83-4224-9031-516B4C2F7909}" type="pres">
      <dgm:prSet presAssocID="{6DA5B0DD-CB85-4F32-B044-A7C0AD0BEF44}" presName="spacer" presStyleCnt="0"/>
      <dgm:spPr/>
    </dgm:pt>
    <dgm:pt modelId="{E632BEC9-8056-48EE-940A-9FECE51C94B7}" type="pres">
      <dgm:prSet presAssocID="{FFF4CBF5-DB65-4495-9C18-B7028C36457D}" presName="parentText" presStyleLbl="node1" presStyleIdx="1" presStyleCnt="3" custScaleY="50193">
        <dgm:presLayoutVars>
          <dgm:chMax val="0"/>
          <dgm:bulletEnabled val="1"/>
        </dgm:presLayoutVars>
      </dgm:prSet>
      <dgm:spPr/>
    </dgm:pt>
    <dgm:pt modelId="{0AD4BA51-92E0-4D32-91C5-6936993121F0}" type="pres">
      <dgm:prSet presAssocID="{FB27773C-1058-42BD-9C35-417542F24BD7}" presName="spacer" presStyleCnt="0"/>
      <dgm:spPr/>
    </dgm:pt>
    <dgm:pt modelId="{FC5CC492-09C2-4317-9577-1AE24993302D}" type="pres">
      <dgm:prSet presAssocID="{94D30248-F761-4DAB-A6A8-56AC4795E37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77AB5C-68BD-45C7-AC91-F11F96740823}" srcId="{669F88C2-2F0E-4055-9339-A7D6E43030F8}" destId="{91DFD978-91A3-479F-A9EC-FD64E73CDD09}" srcOrd="0" destOrd="0" parTransId="{E1167D67-058E-4B11-A044-2CB85AD0DEC3}" sibTransId="{6DA5B0DD-CB85-4F32-B044-A7C0AD0BEF44}"/>
    <dgm:cxn modelId="{718FBF47-D5DB-4455-BA2C-D23D19AA5DAC}" srcId="{669F88C2-2F0E-4055-9339-A7D6E43030F8}" destId="{FFF4CBF5-DB65-4495-9C18-B7028C36457D}" srcOrd="1" destOrd="0" parTransId="{8CCDF660-FB35-44DE-A5CD-8DBC675D7CCA}" sibTransId="{FB27773C-1058-42BD-9C35-417542F24BD7}"/>
    <dgm:cxn modelId="{B1901C6A-24F1-4E6E-B719-9AF2A2727408}" srcId="{669F88C2-2F0E-4055-9339-A7D6E43030F8}" destId="{94D30248-F761-4DAB-A6A8-56AC4795E377}" srcOrd="2" destOrd="0" parTransId="{40063AFD-D706-4A24-838B-65445DEC74F1}" sibTransId="{7F01FF11-6E01-4FDC-AAC5-4147C75B3465}"/>
    <dgm:cxn modelId="{BC0242A9-1B12-4694-BBCC-C31A7D9CC9EF}" type="presOf" srcId="{94D30248-F761-4DAB-A6A8-56AC4795E377}" destId="{FC5CC492-09C2-4317-9577-1AE24993302D}" srcOrd="0" destOrd="0" presId="urn:microsoft.com/office/officeart/2005/8/layout/vList2"/>
    <dgm:cxn modelId="{75FCCBC9-AA74-4A58-AD52-B33D245BF00D}" type="presOf" srcId="{FFF4CBF5-DB65-4495-9C18-B7028C36457D}" destId="{E632BEC9-8056-48EE-940A-9FECE51C94B7}" srcOrd="0" destOrd="0" presId="urn:microsoft.com/office/officeart/2005/8/layout/vList2"/>
    <dgm:cxn modelId="{099E56DE-48ED-405B-BF4A-DFFF68EF44C7}" type="presOf" srcId="{669F88C2-2F0E-4055-9339-A7D6E43030F8}" destId="{F01CE873-EF23-40C0-BB07-9275D016E8F6}" srcOrd="0" destOrd="0" presId="urn:microsoft.com/office/officeart/2005/8/layout/vList2"/>
    <dgm:cxn modelId="{9683DEFE-8E51-4B0C-B3E3-E58CC391FB5F}" type="presOf" srcId="{91DFD978-91A3-479F-A9EC-FD64E73CDD09}" destId="{50E8CA5A-E7E7-429F-9E90-B765221F14C9}" srcOrd="0" destOrd="0" presId="urn:microsoft.com/office/officeart/2005/8/layout/vList2"/>
    <dgm:cxn modelId="{8D644B44-B99C-4FD5-BD43-D21F5DE280C0}" type="presParOf" srcId="{F01CE873-EF23-40C0-BB07-9275D016E8F6}" destId="{50E8CA5A-E7E7-429F-9E90-B765221F14C9}" srcOrd="0" destOrd="0" presId="urn:microsoft.com/office/officeart/2005/8/layout/vList2"/>
    <dgm:cxn modelId="{DE46C745-A7E7-47BA-82E7-1AB151EF91C6}" type="presParOf" srcId="{F01CE873-EF23-40C0-BB07-9275D016E8F6}" destId="{BB27B84D-DF83-4224-9031-516B4C2F7909}" srcOrd="1" destOrd="0" presId="urn:microsoft.com/office/officeart/2005/8/layout/vList2"/>
    <dgm:cxn modelId="{67306105-49A4-4E8D-8EC2-61DA3518053B}" type="presParOf" srcId="{F01CE873-EF23-40C0-BB07-9275D016E8F6}" destId="{E632BEC9-8056-48EE-940A-9FECE51C94B7}" srcOrd="2" destOrd="0" presId="urn:microsoft.com/office/officeart/2005/8/layout/vList2"/>
    <dgm:cxn modelId="{64E49BED-B639-4C43-B851-2F8D2B4C878B}" type="presParOf" srcId="{F01CE873-EF23-40C0-BB07-9275D016E8F6}" destId="{0AD4BA51-92E0-4D32-91C5-6936993121F0}" srcOrd="3" destOrd="0" presId="urn:microsoft.com/office/officeart/2005/8/layout/vList2"/>
    <dgm:cxn modelId="{62B36781-B40B-400C-9E0B-2F5700DE099F}" type="presParOf" srcId="{F01CE873-EF23-40C0-BB07-9275D016E8F6}" destId="{FC5CC492-09C2-4317-9577-1AE24993302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54A46-3DAC-4C03-B58E-BE88CFB65FB4}">
      <dsp:nvSpPr>
        <dsp:cNvPr id="0" name=""/>
        <dsp:cNvSpPr/>
      </dsp:nvSpPr>
      <dsp:spPr>
        <a:xfrm>
          <a:off x="661584" y="869"/>
          <a:ext cx="3068535" cy="1841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HTTP Input — </a:t>
          </a:r>
          <a:r>
            <a:rPr lang="en-IN" sz="1300" b="1" kern="1200" dirty="0"/>
            <a:t>/hl7/ingest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ACE listens on port 7080 and receives raw HL7 bytes via the BLOB domain.</a:t>
          </a:r>
          <a:r>
            <a:rPr lang="en-IN" sz="1300" b="1" i="0" kern="1200" dirty="0"/>
            <a:t>2</a:t>
          </a:r>
          <a:endParaRPr lang="en-US" sz="1300" kern="1200" dirty="0"/>
        </a:p>
      </dsp:txBody>
      <dsp:txXfrm>
        <a:off x="661584" y="869"/>
        <a:ext cx="3068535" cy="1841121"/>
      </dsp:txXfrm>
    </dsp:sp>
    <dsp:sp modelId="{F89CA2F3-DF09-455B-AFEF-5212BA9F5102}">
      <dsp:nvSpPr>
        <dsp:cNvPr id="0" name=""/>
        <dsp:cNvSpPr/>
      </dsp:nvSpPr>
      <dsp:spPr>
        <a:xfrm>
          <a:off x="4036974" y="869"/>
          <a:ext cx="3068535" cy="1841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ESQL HL7Parser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Splits the pipe-delimited HL7 text into a structured LocalEnvironment.HL7 element tree using pure ESQL</a:t>
          </a:r>
          <a:r>
            <a:rPr lang="en-IN" sz="1300" b="1" i="0" kern="1200" dirty="0"/>
            <a:t>3</a:t>
          </a:r>
          <a:endParaRPr lang="en-US" sz="1300" kern="1200" dirty="0"/>
        </a:p>
      </dsp:txBody>
      <dsp:txXfrm>
        <a:off x="4036974" y="869"/>
        <a:ext cx="3068535" cy="1841121"/>
      </dsp:txXfrm>
    </dsp:sp>
    <dsp:sp modelId="{D4BC2690-6038-4584-AAC6-51B8B0338DC5}">
      <dsp:nvSpPr>
        <dsp:cNvPr id="0" name=""/>
        <dsp:cNvSpPr/>
      </dsp:nvSpPr>
      <dsp:spPr>
        <a:xfrm>
          <a:off x="7412363" y="869"/>
          <a:ext cx="3068535" cy="1841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Java HL7SegmentParser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A Java Compute Node that converts the raw segments into a typed </a:t>
          </a:r>
          <a:r>
            <a:rPr lang="en-IN" sz="1300" kern="1200" dirty="0" err="1"/>
            <a:t>MbElement</a:t>
          </a:r>
          <a:r>
            <a:rPr lang="en-IN" sz="1300" kern="1200" dirty="0"/>
            <a:t> tree and produces a compact JSON summary for the AI agents.</a:t>
          </a:r>
          <a:r>
            <a:rPr lang="en-IN" sz="1300" b="1" i="0" kern="1200" dirty="0"/>
            <a:t>4</a:t>
          </a:r>
          <a:endParaRPr lang="en-US" sz="1300" kern="1200" dirty="0"/>
        </a:p>
      </dsp:txBody>
      <dsp:txXfrm>
        <a:off x="7412363" y="869"/>
        <a:ext cx="3068535" cy="1841121"/>
      </dsp:txXfrm>
    </dsp:sp>
    <dsp:sp modelId="{DBE01364-A845-4431-A621-FAA6A72D39C9}">
      <dsp:nvSpPr>
        <dsp:cNvPr id="0" name=""/>
        <dsp:cNvSpPr/>
      </dsp:nvSpPr>
      <dsp:spPr>
        <a:xfrm>
          <a:off x="661584" y="2148844"/>
          <a:ext cx="3068535" cy="1841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ESQL HL7Validator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Checks that all required MSH and PID fields are present; routes the message to an error queue if validation fails.</a:t>
          </a:r>
          <a:r>
            <a:rPr lang="en-IN" sz="1300" b="1" i="0" kern="1200" dirty="0"/>
            <a:t>5</a:t>
          </a:r>
          <a:endParaRPr lang="en-US" sz="1300" kern="1200" dirty="0"/>
        </a:p>
      </dsp:txBody>
      <dsp:txXfrm>
        <a:off x="661584" y="2148844"/>
        <a:ext cx="3068535" cy="1841121"/>
      </dsp:txXfrm>
    </dsp:sp>
    <dsp:sp modelId="{01515980-EDD7-4AE4-975F-DB931BFFE98A}">
      <dsp:nvSpPr>
        <dsp:cNvPr id="0" name=""/>
        <dsp:cNvSpPr/>
      </dsp:nvSpPr>
      <dsp:spPr>
        <a:xfrm>
          <a:off x="4036974" y="2148844"/>
          <a:ext cx="3068535" cy="1841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HTTP POST → AI Agent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Forwards the JSON summary from ACE to the Node.js AI agent sidecar at :4000/process via an HTTP Request node.</a:t>
          </a:r>
          <a:r>
            <a:rPr lang="en-IN" sz="1300" b="1" i="0" kern="1200" dirty="0"/>
            <a:t>6</a:t>
          </a:r>
          <a:endParaRPr lang="en-US" sz="1300" kern="1200" dirty="0"/>
        </a:p>
      </dsp:txBody>
      <dsp:txXfrm>
        <a:off x="4036974" y="2148844"/>
        <a:ext cx="3068535" cy="1841121"/>
      </dsp:txXfrm>
    </dsp:sp>
    <dsp:sp modelId="{7572CB98-63BD-475C-AF9A-64620624B758}">
      <dsp:nvSpPr>
        <dsp:cNvPr id="0" name=""/>
        <dsp:cNvSpPr/>
      </dsp:nvSpPr>
      <dsp:spPr>
        <a:xfrm>
          <a:off x="7412363" y="2148844"/>
          <a:ext cx="3068535" cy="1841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MQ Route + ACK Builder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Puts the message onto the correct MQ queue (ADT, ORU, or ORM) and sends a standards-compliant HL7 AA or AE acknowledgement back to the sender.</a:t>
          </a:r>
          <a:endParaRPr lang="en-US" sz="1300" kern="1200" dirty="0"/>
        </a:p>
      </dsp:txBody>
      <dsp:txXfrm>
        <a:off x="7412363" y="2148844"/>
        <a:ext cx="3068535" cy="18411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8CA5A-E7E7-429F-9E90-B765221F14C9}">
      <dsp:nvSpPr>
        <dsp:cNvPr id="0" name=""/>
        <dsp:cNvSpPr/>
      </dsp:nvSpPr>
      <dsp:spPr>
        <a:xfrm>
          <a:off x="0" y="0"/>
          <a:ext cx="6900512" cy="148656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dirty="0"/>
            <a:t>For Integration Engineers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No HL7 library complexity inside ACE — pure ESQL keeps the BAR lightweight</a:t>
          </a:r>
          <a:endParaRPr lang="en-US" sz="1600" kern="1200" dirty="0"/>
        </a:p>
      </dsp:txBody>
      <dsp:txXfrm>
        <a:off x="72568" y="72568"/>
        <a:ext cx="6755376" cy="1341431"/>
      </dsp:txXfrm>
    </dsp:sp>
    <dsp:sp modelId="{E632BEC9-8056-48EE-940A-9FECE51C94B7}">
      <dsp:nvSpPr>
        <dsp:cNvPr id="0" name=""/>
        <dsp:cNvSpPr/>
      </dsp:nvSpPr>
      <dsp:spPr>
        <a:xfrm>
          <a:off x="0" y="1660961"/>
          <a:ext cx="6900512" cy="123676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dirty="0"/>
            <a:t>For AI / Data Engineers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4 independent, fully testable AI agents — Classify · Validate · Enrich · Summarise</a:t>
          </a:r>
          <a:endParaRPr lang="en-US" sz="1600" kern="1200" dirty="0"/>
        </a:p>
      </dsp:txBody>
      <dsp:txXfrm>
        <a:off x="60374" y="1721335"/>
        <a:ext cx="6779764" cy="1116017"/>
      </dsp:txXfrm>
    </dsp:sp>
    <dsp:sp modelId="{FC5CC492-09C2-4317-9577-1AE24993302D}">
      <dsp:nvSpPr>
        <dsp:cNvPr id="0" name=""/>
        <dsp:cNvSpPr/>
      </dsp:nvSpPr>
      <dsp:spPr>
        <a:xfrm>
          <a:off x="0" y="3035967"/>
          <a:ext cx="6900512" cy="246401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dirty="0"/>
            <a:t>For Healthcare Teams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b="0" i="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Critical lab flags (HH/LL/AA) </a:t>
          </a:r>
          <a:r>
            <a:rPr lang="en-IN" sz="1600" b="1" i="0" kern="1200" dirty="0"/>
            <a:t>escalated instantly</a:t>
          </a:r>
          <a:r>
            <a:rPr lang="en-IN" sz="1600" b="0" i="0" kern="1200" dirty="0"/>
            <a:t> — no manual triage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Drug allergy alerts fired </a:t>
          </a:r>
          <a:r>
            <a:rPr lang="en-IN" sz="1600" b="1" i="0" kern="1200" dirty="0"/>
            <a:t>before the order reaches the pharmacy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FHIR patient context attached to every message automatically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Human-readable clinical narratives generated by Granite LLM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Safer, faster clinical decisions</a:t>
          </a:r>
          <a:r>
            <a:rPr lang="en-IN" sz="1600" b="0" i="0" kern="1200" dirty="0"/>
            <a:t> — every time</a:t>
          </a:r>
          <a:endParaRPr lang="en-US" sz="1600" kern="1200" dirty="0"/>
        </a:p>
      </dsp:txBody>
      <dsp:txXfrm>
        <a:off x="120283" y="3156250"/>
        <a:ext cx="6659946" cy="2223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7B492-2A72-4595-B753-C4CF24AFB47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6DB87-2B1E-40BC-9418-741094BE8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6DB87-2B1E-40BC-9418-741094BE885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95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F6D5-D08E-0D23-8FB9-43F2D434A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9FCB5-81B0-DB4E-BCC1-91BE61D8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E0D4-3AA8-9883-A246-DD7E0AC3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1FC04-DDE7-09EA-E095-2183A955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05ACF-3654-3FD9-06FC-09854084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68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E7B0-A43E-9D4A-7B93-2A315092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533EE-E7E8-1692-B845-92B87BECE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CC60B-2FED-1B84-0347-A80F72E0A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75D45-80A2-7B51-6E3D-C19EFE6D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7A64D-8AA0-8A0C-E7D0-FA7F3097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58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036EE-AD34-6654-5ED5-F1B0471E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61735-55A2-2867-C890-329E4991C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B10F-4339-EB2E-CD34-68CB242B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30FC6-054E-8B51-15CB-63D180A7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E5E1C-7B62-FBED-220F-73D943CF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62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D621-077A-C164-87D1-646289DD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0CA1D-8682-0399-6E99-8DEE83B63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1103D-AEBD-BD10-2282-3E6356497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B500A-9105-16A0-765B-3AC2D149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8DCE6-20DB-FCCC-246F-F1CD9AC4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6DA75-5300-FB12-D10A-F62F5E63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06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8533-C37F-1559-B1B5-0632A470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B515D-E175-9364-7690-A0B37C8B8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3FA59-049A-A93D-6524-0ACBEB21B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4DFBA-58E2-2E0D-26B0-E35AFC892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1FD99-8B8D-569E-9367-D0B03DAF1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A0CD2-2C73-F488-3E0F-8E6FBBD21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03BA4-4A90-9264-059D-30EB688F2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678B1-0BD1-E9A1-1DF1-D313F56F3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41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89FF-7F70-FB1D-7EAF-95B566A4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782CB-1A4D-8739-411F-707276C7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133F6-E3CD-E6C5-DBB0-864CE32A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4666F-9A86-A06B-4A7D-BDE1D8DF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15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62B99-CB4D-224C-C3C7-125D763E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1942D-F0E6-27BE-EFEA-15E1BA088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C6E7-0400-DABD-0F06-28D5CDE8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21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531C-F292-6E9F-58FE-2A82EAB1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17ED9-1F83-CC30-6FD9-8ECEE5C68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488C8-E93B-1FE1-5831-85233A0C6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84F6B-05E3-2832-C1D1-F047F56D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7C405-0980-1C83-4926-9E364FBC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7F626-F8C2-4EA5-03D0-794AA07F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36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1907-9216-41D0-F1DE-BAE6A89C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8624A-2BE1-3CA6-C1E0-35ECDE09C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04C28-40BF-1482-A362-BB7B24742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5189C-CB26-8ED4-D458-BFC43F2A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1AC7E-E340-5FCE-59C8-185CDCC6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1420A-ECC6-E09A-3C17-ED271D71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62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4895-0F9C-FDC0-0EB3-539D08B5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0AD96-0991-F8AD-A081-67B5B52FE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FF2AE-95E6-4F27-960D-50250ECC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317F2-4801-C402-700F-6D4E1FD6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ABD79-2B35-2DF5-6A6C-FAE0D6C7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594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0C4AC-D9E4-B728-E5FE-42759B148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6DA40-9D48-37E4-792A-E181FB7F3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1BE0-AA23-3D45-89B5-AEAC8BAE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9F01F-4B23-2FC7-4D7E-F76A94A1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2D8A7-0BB9-1609-338D-030E6178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46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B1B9B-367B-CC55-F26C-88201EC1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170B1-83F4-3D90-17CC-FA64337F4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3EF4-E301-2277-0A15-94333F754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BFF88-A647-45DF-A888-AB7122228E4A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78F39-61EC-9870-F6DC-538089B9B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9A005-0B5D-B3FD-EB65-B36F5C8CE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2EDC4-5F58-451C-9AC8-B04101F50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024EA-8300-D564-C46A-7C22C2188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2000" b="1" i="1" dirty="0">
                <a:solidFill>
                  <a:srgbClr val="FFFFFF"/>
                </a:solidFill>
              </a:rPr>
              <a:t>BOBATHON  </a:t>
            </a:r>
            <a:r>
              <a:rPr lang="en-IN" sz="2000" b="1" dirty="0">
                <a:solidFill>
                  <a:srgbClr val="FFFFFF"/>
                </a:solidFill>
              </a:rPr>
              <a:t>·</a:t>
            </a:r>
            <a:r>
              <a:rPr lang="en-US" sz="2000" b="1" i="1" dirty="0">
                <a:solidFill>
                  <a:srgbClr val="FFFFFF"/>
                </a:solidFill>
              </a:rPr>
              <a:t>  COGNIZANT</a:t>
            </a:r>
            <a:br>
              <a:rPr lang="en-US" sz="4400" b="1" i="1" dirty="0">
                <a:solidFill>
                  <a:srgbClr val="FFFFFF"/>
                </a:solidFill>
              </a:rPr>
            </a:br>
            <a:br>
              <a:rPr lang="en-US" sz="4400" b="1" i="1" dirty="0">
                <a:solidFill>
                  <a:srgbClr val="FFFFFF"/>
                </a:solidFill>
              </a:rPr>
            </a:br>
            <a:r>
              <a:rPr lang="en-US" sz="4400" b="1" i="1" dirty="0">
                <a:solidFill>
                  <a:srgbClr val="FFFFFF"/>
                </a:solidFill>
              </a:rPr>
              <a:t>HL7 Enablement Starter Kit for IBM ACE</a:t>
            </a:r>
            <a:endParaRPr lang="en-IN" sz="4400" b="1" dirty="0">
              <a:solidFill>
                <a:srgbClr val="FFFFFF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29B0-7F5D-BB82-A790-A8710F5D3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IN" dirty="0">
                <a:solidFill>
                  <a:srgbClr val="FFFFFF"/>
                </a:solidFill>
              </a:rPr>
              <a:t>Agentic AI–Driven Healthcare Messaging  ·  IBM BOB  ·  IBM App Connect Enterprise 12.x</a:t>
            </a:r>
            <a:endParaRPr lang="en-US" dirty="0">
              <a:solidFill>
                <a:srgbClr val="FFFFFF"/>
              </a:solidFill>
            </a:endParaRPr>
          </a:p>
          <a:p>
            <a:pPr algn="r"/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1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E3BE6-8A83-C724-7CA9-5A206AE3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Problem (Why This Matters)</a:t>
            </a:r>
            <a:b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B4F2A-52DD-E8C9-F730-1D5AC9644278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b="0" i="0" kern="1200" dirty="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Healthcare systems generate thousands of HL7 messages daily. They need to be:</a:t>
            </a:r>
            <a:endParaRPr lang="en-US" sz="19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BC8CA4-80DF-F6A2-2C21-142153078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934663"/>
              </p:ext>
            </p:extLst>
          </p:nvPr>
        </p:nvGraphicFramePr>
        <p:xfrm>
          <a:off x="432225" y="2085449"/>
          <a:ext cx="11327550" cy="421384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663775">
                  <a:extLst>
                    <a:ext uri="{9D8B030D-6E8A-4147-A177-3AD203B41FA5}">
                      <a16:colId xmlns:a16="http://schemas.microsoft.com/office/drawing/2014/main" val="2348400841"/>
                    </a:ext>
                  </a:extLst>
                </a:gridCol>
                <a:gridCol w="5663775">
                  <a:extLst>
                    <a:ext uri="{9D8B030D-6E8A-4147-A177-3AD203B41FA5}">
                      <a16:colId xmlns:a16="http://schemas.microsoft.com/office/drawing/2014/main" val="1609113327"/>
                    </a:ext>
                  </a:extLst>
                </a:gridCol>
              </a:tblGrid>
              <a:tr h="815584">
                <a:tc>
                  <a:txBody>
                    <a:bodyPr/>
                    <a:lstStyle/>
                    <a:p>
                      <a:r>
                        <a:rPr lang="en-IN" sz="2500" b="1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Today (Manual / Basic)</a:t>
                      </a:r>
                      <a:endParaRPr lang="en-IN" sz="2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18587" marR="191152" marT="191152" marB="1911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500" b="1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With This Kit</a:t>
                      </a:r>
                      <a:endParaRPr lang="en-IN" sz="2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18587" marR="191152" marT="191152" marB="1911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784428"/>
                  </a:ext>
                </a:extLst>
              </a:tr>
              <a:tr h="6796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Raw pipe-delimited text ignored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Parsed into structured data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143550"/>
                  </a:ext>
                </a:extLst>
              </a:tr>
              <a:tr h="6796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No urgency triage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AI-assigned critical/high/medium/low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727691"/>
                  </a:ext>
                </a:extLst>
              </a:tr>
              <a:tr h="6796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Routing is static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AI-driven intelligent routing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965290"/>
                  </a:ext>
                </a:extLst>
              </a:tr>
              <a:tr h="6796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No patient context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FHIR enrichment + allergy alerts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998009"/>
                  </a:ext>
                </a:extLst>
              </a:tr>
              <a:tr h="6796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No narrative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WPC"/>
                        </a:rPr>
                        <a:t>Granite LLM clinical summary</a:t>
                      </a:r>
                    </a:p>
                  </a:txBody>
                  <a:tcPr marL="318587" marR="165665" marT="165665" marB="1656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086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55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FA605-C206-FB4D-90C8-B8E25C48ACD1}"/>
              </a:ext>
            </a:extLst>
          </p:cNvPr>
          <p:cNvSpPr txBox="1"/>
          <p:nvPr/>
        </p:nvSpPr>
        <p:spPr>
          <a:xfrm>
            <a:off x="365579" y="718116"/>
            <a:ext cx="3091607" cy="16554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dirty="0">
                <a:effectLst/>
                <a:latin typeface="+mj-lt"/>
                <a:ea typeface="+mj-ea"/>
                <a:cs typeface="+mj-cs"/>
              </a:rPr>
              <a:t>Architecture Overview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6DE540-1EDF-B44D-54D2-1919B86A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7910"/>
          <a:stretch>
            <a:fillRect/>
          </a:stretch>
        </p:blipFill>
        <p:spPr>
          <a:xfrm>
            <a:off x="3663696" y="-7942"/>
            <a:ext cx="8115280" cy="6359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1E0271-C865-618F-2CA4-5637635FCADA}"/>
              </a:ext>
            </a:extLst>
          </p:cNvPr>
          <p:cNvSpPr txBox="1"/>
          <p:nvPr/>
        </p:nvSpPr>
        <p:spPr>
          <a:xfrm>
            <a:off x="360442" y="3086827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1" dirty="0">
                <a:effectLst/>
              </a:rPr>
              <a:t>ACE handles the deterministic integration. The AI layer runs as a sidecar — independently deployable and testable</a:t>
            </a:r>
            <a:endParaRPr lang="en-US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4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26AF-789A-D2C6-CB36-08F81C03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The 6-Step Pipeline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36847-4E39-BEE2-32CF-16ADC2230B1C}"/>
              </a:ext>
            </a:extLst>
          </p:cNvPr>
          <p:cNvSpPr txBox="1"/>
          <p:nvPr/>
        </p:nvSpPr>
        <p:spPr>
          <a:xfrm>
            <a:off x="537327" y="1690688"/>
            <a:ext cx="112650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effectLst/>
                <a:latin typeface="Segoe WPC"/>
              </a:rPr>
              <a:t>① HTTP Input → ② ESQL Parser → ③ Java Parser ④ ESQL Validator → ⑤ AI Agents → ⑥ MQ Route + ACK</a:t>
            </a:r>
            <a:endParaRPr lang="en-IN" sz="2000" dirty="0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27008FD3-ECF2-E2A5-4A78-FA06AD428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8406919"/>
              </p:ext>
            </p:extLst>
          </p:nvPr>
        </p:nvGraphicFramePr>
        <p:xfrm>
          <a:off x="537326" y="2497837"/>
          <a:ext cx="11142484" cy="3990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445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FCCCD-DFF4-6086-723F-FD26D727F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Four AI Agents</a:t>
            </a:r>
            <a:b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5BF89-E8F5-8686-C54D-70921AE75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443" y="478713"/>
            <a:ext cx="7836676" cy="553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91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7F8A9-2D0B-BE8E-1FC4-9F338040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B6B5AC3-054B-A323-DD00-6CC8D79FA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9BC0C4-C310-0AB6-169F-42EE780C4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B32787-D863-C2ED-573B-54B837D6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334E1F-297E-750B-4D20-2FD502C21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F15A4F-FBAF-885A-A066-7FAE13726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2E10C18-F5B8-33EA-6AAE-B0262143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65" y="196994"/>
            <a:ext cx="7399746" cy="14149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778F41-9EB9-BAF9-E4BD-28E3F9974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585252-1D85-6934-92E3-A0731D764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133344-DBAF-5138-B207-260039577606}"/>
              </a:ext>
            </a:extLst>
          </p:cNvPr>
          <p:cNvGrpSpPr/>
          <p:nvPr/>
        </p:nvGrpSpPr>
        <p:grpSpPr>
          <a:xfrm>
            <a:off x="1089542" y="1907422"/>
            <a:ext cx="8938260" cy="1305401"/>
            <a:chOff x="0" y="0"/>
            <a:chExt cx="8938260" cy="13054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E69D085-5E6E-2755-2DE9-7F3F788AF5AC}"/>
                </a:ext>
              </a:extLst>
            </p:cNvPr>
            <p:cNvSpPr/>
            <p:nvPr/>
          </p:nvSpPr>
          <p:spPr>
            <a:xfrm>
              <a:off x="0" y="0"/>
              <a:ext cx="8938260" cy="13054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FC098FAD-D02F-15C4-16C2-A56CDCAC4835}"/>
                </a:ext>
              </a:extLst>
            </p:cNvPr>
            <p:cNvSpPr txBox="1"/>
            <p:nvPr/>
          </p:nvSpPr>
          <p:spPr>
            <a:xfrm>
              <a:off x="110100" y="75777"/>
              <a:ext cx="7529629" cy="12289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marL="0" lvl="0" indent="0" algn="l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b="0" i="0" kern="1200" dirty="0"/>
                <a:t>Message 1: ADT^A01 → Patient Admission → urgency: HIGH → </a:t>
              </a:r>
              <a:r>
                <a:rPr lang="en-IN" sz="3200" b="0" i="0" kern="1200" dirty="0" err="1"/>
                <a:t>adt</a:t>
              </a:r>
              <a:r>
                <a:rPr lang="en-IN" sz="3200" b="0" i="0" kern="1200" dirty="0"/>
                <a:t>-queue </a:t>
              </a:r>
              <a:endParaRPr lang="en-US" sz="32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D4F2313-420E-65F4-FC04-815D5112B775}"/>
              </a:ext>
            </a:extLst>
          </p:cNvPr>
          <p:cNvGrpSpPr/>
          <p:nvPr/>
        </p:nvGrpSpPr>
        <p:grpSpPr>
          <a:xfrm>
            <a:off x="1787652" y="3428141"/>
            <a:ext cx="8938260" cy="1305401"/>
            <a:chOff x="788669" y="1522968"/>
            <a:chExt cx="8938260" cy="130540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76F4309-1CF8-2E5C-5313-BEA7F5E636AB}"/>
                </a:ext>
              </a:extLst>
            </p:cNvPr>
            <p:cNvSpPr/>
            <p:nvPr/>
          </p:nvSpPr>
          <p:spPr>
            <a:xfrm>
              <a:off x="788669" y="1522968"/>
              <a:ext cx="8938260" cy="13054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039768AD-DBC9-3CF3-E53E-6C68166861E6}"/>
                </a:ext>
              </a:extLst>
            </p:cNvPr>
            <p:cNvSpPr txBox="1"/>
            <p:nvPr/>
          </p:nvSpPr>
          <p:spPr>
            <a:xfrm>
              <a:off x="826903" y="1561202"/>
              <a:ext cx="7224611" cy="12289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marL="0" lvl="0" indent="0" algn="l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b="0" i="0" kern="1200" dirty="0"/>
                <a:t>Message 2: ORU^R01 → Critical Lab → urgency: CRITICAL → critical-alert-queue </a:t>
              </a:r>
              <a:endParaRPr lang="en-US" sz="3200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7A845-29AF-C979-980D-2A4187DF815D}"/>
              </a:ext>
            </a:extLst>
          </p:cNvPr>
          <p:cNvGrpSpPr/>
          <p:nvPr/>
        </p:nvGrpSpPr>
        <p:grpSpPr>
          <a:xfrm>
            <a:off x="2569918" y="4988524"/>
            <a:ext cx="8938260" cy="1305401"/>
            <a:chOff x="1577339" y="3045936"/>
            <a:chExt cx="8938260" cy="13054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D73AA6F-72A9-276F-E237-F392BFBC1E04}"/>
                </a:ext>
              </a:extLst>
            </p:cNvPr>
            <p:cNvSpPr/>
            <p:nvPr/>
          </p:nvSpPr>
          <p:spPr>
            <a:xfrm>
              <a:off x="1577339" y="3045936"/>
              <a:ext cx="8938260" cy="13054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61FD0C3A-0833-8D52-B9DA-D83BC0E4701B}"/>
                </a:ext>
              </a:extLst>
            </p:cNvPr>
            <p:cNvSpPr txBox="1"/>
            <p:nvPr/>
          </p:nvSpPr>
          <p:spPr>
            <a:xfrm>
              <a:off x="1615573" y="3084170"/>
              <a:ext cx="7224611" cy="12289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marL="0" lvl="0" indent="0" algn="l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b="0" i="0" kern="1200"/>
                <a:t>Message 3: ORM^O01 → Drug Order → 🚨 ALLERGY ALERT → pharmacist review</a:t>
              </a:r>
              <a:endParaRPr lang="en-US" sz="32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430799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24F63-DCE3-53AB-D22D-E2C284C1338E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How It Makes Life Easier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93282148-60FC-3B16-1702-09A83048D6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74537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47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7233E0C-96A6-3171-ED68-F5DF9F5A9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19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458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WPC</vt:lpstr>
      <vt:lpstr>Office Theme</vt:lpstr>
      <vt:lpstr>BOBATHON  ·  COGNIZANT  HL7 Enablement Starter Kit for IBM ACE</vt:lpstr>
      <vt:lpstr>The Problem (Why This Matters) </vt:lpstr>
      <vt:lpstr>PowerPoint Presentation</vt:lpstr>
      <vt:lpstr> The 6-Step Pipeline </vt:lpstr>
      <vt:lpstr>The Four AI Agents </vt:lpstr>
      <vt:lpstr>Demo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Yarru</dc:creator>
  <cp:lastModifiedBy>Karthik Yarru</cp:lastModifiedBy>
  <cp:revision>6</cp:revision>
  <dcterms:created xsi:type="dcterms:W3CDTF">2026-07-10T08:09:05Z</dcterms:created>
  <dcterms:modified xsi:type="dcterms:W3CDTF">2026-07-10T10:23:09Z</dcterms:modified>
</cp:coreProperties>
</file>